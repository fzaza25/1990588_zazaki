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eb61e550b_2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eb61e550b_2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eb61e550b_2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eb61e550b_2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eb61e550b_2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eb61e550b_2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eb61e550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eb61e55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eb61e550b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eb61e550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b61e550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eb61e550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eb61e550b_2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eb61e550b_2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eb61e550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eb61e550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eb61e550b_2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eb61e550b_2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ceb61e550b_2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ceb61e550b_2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vue.js" TargetMode="External"/><Relationship Id="rId4" Type="http://schemas.openxmlformats.org/officeDocument/2006/relationships/hyperlink" Target="http://chart.j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2170950" y="1503850"/>
            <a:ext cx="4802100" cy="838800"/>
          </a:xfrm>
          <a:prstGeom prst="rect">
            <a:avLst/>
          </a:prstGeom>
          <a:gradFill>
            <a:gsLst>
              <a:gs pos="0">
                <a:srgbClr val="1076D2"/>
              </a:gs>
              <a:gs pos="100000">
                <a:srgbClr val="09305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it">
                <a:latin typeface="Times New Roman"/>
                <a:ea typeface="Times New Roman"/>
                <a:cs typeface="Times New Roman"/>
                <a:sym typeface="Times New Roman"/>
              </a:rPr>
              <a:t>Mars IOT Simulator</a:t>
            </a:r>
            <a:endParaRPr b="1"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50" y="3382032"/>
            <a:ext cx="8222100" cy="15909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path path="circle">
              <a:fillToRect b="50%" l="50%" r="50%" t="50%"/>
            </a:path>
            <a:tileRect/>
          </a:gradFill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2400">
                <a:solidFill>
                  <a:srgbClr val="0B5394"/>
                </a:solidFill>
              </a:rPr>
              <a:t>Laboratory of advanced Programming 2025/2026</a:t>
            </a:r>
            <a:endParaRPr b="1" sz="24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B5394"/>
                </a:solidFill>
              </a:rPr>
              <a:t>Group: </a:t>
            </a:r>
            <a:r>
              <a:rPr i="1" lang="it" sz="1600">
                <a:solidFill>
                  <a:srgbClr val="0B5394"/>
                </a:solidFill>
              </a:rPr>
              <a:t>Zazaki</a:t>
            </a:r>
            <a:endParaRPr i="1"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solidFill>
                  <a:srgbClr val="0B5394"/>
                </a:solidFill>
              </a:rPr>
              <a:t>Members: </a:t>
            </a:r>
            <a:endParaRPr b="1" sz="1600">
              <a:solidFill>
                <a:srgbClr val="0B539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rgbClr val="0B5394"/>
                </a:solidFill>
              </a:rPr>
              <a:t>Devops:</a:t>
            </a:r>
            <a:r>
              <a:rPr b="1" lang="it" sz="1400">
                <a:solidFill>
                  <a:srgbClr val="0B5394"/>
                </a:solidFill>
              </a:rPr>
              <a:t> </a:t>
            </a:r>
            <a:r>
              <a:rPr i="1" lang="it" sz="1400">
                <a:solidFill>
                  <a:srgbClr val="0B5394"/>
                </a:solidFill>
              </a:rPr>
              <a:t>Federico Zaza</a:t>
            </a:r>
            <a:endParaRPr i="1" sz="1400">
              <a:solidFill>
                <a:srgbClr val="0B539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rgbClr val="0B5394"/>
                </a:solidFill>
              </a:rPr>
              <a:t>Back-end: </a:t>
            </a:r>
            <a:r>
              <a:rPr i="1" lang="it" sz="1400">
                <a:solidFill>
                  <a:srgbClr val="0B5394"/>
                </a:solidFill>
              </a:rPr>
              <a:t>Giulio Maria Schintu</a:t>
            </a:r>
            <a:endParaRPr i="1" sz="1400">
              <a:solidFill>
                <a:srgbClr val="0B5394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500">
                <a:solidFill>
                  <a:srgbClr val="0B5394"/>
                </a:solidFill>
              </a:rPr>
              <a:t>Front-end:</a:t>
            </a:r>
            <a:r>
              <a:rPr b="1" lang="it" sz="1400">
                <a:solidFill>
                  <a:srgbClr val="0B5394"/>
                </a:solidFill>
              </a:rPr>
              <a:t> </a:t>
            </a:r>
            <a:r>
              <a:rPr i="1" lang="it" sz="1400">
                <a:solidFill>
                  <a:srgbClr val="0B5394"/>
                </a:solidFill>
              </a:rPr>
              <a:t>Andrea Pulsoni</a:t>
            </a:r>
            <a:endParaRPr i="1" sz="14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Problem and goal</a:t>
            </a:r>
            <a:endParaRPr/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598100" y="1657225"/>
            <a:ext cx="7854300" cy="26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latin typeface="Arial"/>
                <a:ea typeface="Arial"/>
                <a:cs typeface="Arial"/>
                <a:sym typeface="Arial"/>
              </a:rPr>
              <a:t>Problem:</a:t>
            </a:r>
            <a:r>
              <a:rPr lang="it" sz="1600">
                <a:latin typeface="Arial"/>
                <a:ea typeface="Arial"/>
                <a:cs typeface="Arial"/>
                <a:sym typeface="Arial"/>
              </a:rPr>
              <a:t> Real-time management of sensors and actuators in a simulated Martian habitat.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lang="it" sz="1600">
                <a:latin typeface="Arial"/>
                <a:ea typeface="Arial"/>
                <a:cs typeface="Arial"/>
                <a:sym typeface="Arial"/>
              </a:rPr>
              <a:t> Monitor data, apply automated rules, and allow manual override.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 sz="1600">
                <a:latin typeface="Arial"/>
                <a:ea typeface="Arial"/>
                <a:cs typeface="Arial"/>
                <a:sym typeface="Arial"/>
              </a:rPr>
              <a:t>Key requirements:</a:t>
            </a:r>
            <a:r>
              <a:rPr lang="it" sz="1600">
                <a:latin typeface="Arial"/>
                <a:ea typeface="Arial"/>
                <a:cs typeface="Arial"/>
                <a:sym typeface="Arial"/>
              </a:rPr>
              <a:t> Microservices architecture, event-driven communication, Docker deployment.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ctrTitle"/>
          </p:nvPr>
        </p:nvSpPr>
        <p:spPr>
          <a:xfrm>
            <a:off x="598100" y="-3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User stories</a:t>
            </a:r>
            <a:endParaRPr/>
          </a:p>
        </p:txBody>
      </p:sp>
      <p:sp>
        <p:nvSpPr>
          <p:cNvPr id="98" name="Google Shape;98;p15"/>
          <p:cNvSpPr txBox="1"/>
          <p:nvPr>
            <p:ph idx="1" type="subTitle"/>
          </p:nvPr>
        </p:nvSpPr>
        <p:spPr>
          <a:xfrm>
            <a:off x="598100" y="752900"/>
            <a:ext cx="8222100" cy="42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INGESTION &amp; MESSAGING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US-01 REST Sensor Polling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US-02 Telemetry Stream Consumption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US-03 Unified Event Schema Normalization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US-04 Message Broker Integration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US-05 In-Memory State Caching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AUTOMATION &amp; RULES ENGINE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US-06 Create Automation Rule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US-07 List Active Rules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US-08 Delete Automation Rule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US-09 Rule Evaluation Engine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US-14 Rule Persistence Across Restarts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DASHBOARD &amp; CONTROL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US-10 Live Sensor Value Display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US-11 Historical Telemetry Chart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US-12 Manual Actuator Control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US-13 Actuator Status Monitor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DEPLOYMENT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US-15 One-Command Deployment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Architetture Overview</a:t>
            </a:r>
            <a:endParaRPr/>
          </a:p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598100" y="1429707"/>
            <a:ext cx="8222100" cy="15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25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system is built on an event-driven microservices architecture.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IoT Simulator (port 8080) provides sensor data and receives actuator commands.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Ingestion Service collects REST and telemetry data, normalizes it, and publishes events to Kafka.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Rule Engine consumes events, evaluates automation rules, and updates actuator behavior.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Redis is used as a fast state cache.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PostgreSQL stores persistent rules and actuator data.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The API Gateway (port 8000) exposes REST and WebSocket endpoints to the Frontend Dashboard (port 3000), enabling real-time monitoring and control.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8375"/>
            <a:ext cx="8839204" cy="2645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ctrTitle"/>
          </p:nvPr>
        </p:nvSpPr>
        <p:spPr>
          <a:xfrm>
            <a:off x="460950" y="202975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System Data Flow &amp; Pipeline</a:t>
            </a:r>
            <a:endParaRPr/>
          </a:p>
        </p:txBody>
      </p:sp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460950" y="1041775"/>
            <a:ext cx="8222100" cy="41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Multi source ingestion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Simulator Data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 Collects heterogeneous data from REST Polling and SSE Telemetry Streams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it" sz="1400">
                <a:latin typeface="Arial"/>
                <a:ea typeface="Arial"/>
                <a:cs typeface="Arial"/>
                <a:sym typeface="Arial"/>
              </a:rPr>
              <a:t>Normalization: The Ingestion Service converts raw payloads into a Standard Event Schema (Unified JSON)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Event Streaming: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Kafka Broker: 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Acts as the central nervous system, ensuring decoupled and reliable message delivery between services</a:t>
            </a:r>
            <a:r>
              <a:rPr b="1" lang="it" sz="1400">
                <a:latin typeface="Arial"/>
                <a:ea typeface="Arial"/>
                <a:cs typeface="Arial"/>
                <a:sym typeface="Arial"/>
              </a:rPr>
              <a:t>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Topic: 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Published to mars.telemetry.normalized for real-time processing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Rule Logic &amp; Actuation Loop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Rule Engine: 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Consumes Kafka events and evaluates IF-THEN conditions stored in PostgreSQL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Execution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 Triggers REST commands to the Simulator Actuators to maintain habitat stability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Caching</a:t>
            </a:r>
            <a:r>
              <a:rPr lang="it" sz="1400">
                <a:latin typeface="Arial"/>
                <a:ea typeface="Arial"/>
                <a:cs typeface="Arial"/>
                <a:sym typeface="Arial"/>
              </a:rPr>
              <a:t>: Uses Redis to prevent command redundancy.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Monitoring &amp; Gateway Layer: API Gateway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WebSockets: For sub-second telemetry updates (Live graphs).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it" sz="1400">
                <a:latin typeface="Arial"/>
                <a:ea typeface="Arial"/>
                <a:cs typeface="Arial"/>
                <a:sym typeface="Arial"/>
              </a:rPr>
              <a:t>REST APIs: For rule management (CRUD) and manual actuator overrides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ctrTitle"/>
          </p:nvPr>
        </p:nvSpPr>
        <p:spPr>
          <a:xfrm>
            <a:off x="376100" y="105950"/>
            <a:ext cx="66042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DevOps and Deployment</a:t>
            </a:r>
            <a:endParaRPr/>
          </a:p>
        </p:txBody>
      </p:sp>
      <p:sp>
        <p:nvSpPr>
          <p:cNvPr id="121" name="Google Shape;121;p19"/>
          <p:cNvSpPr txBox="1"/>
          <p:nvPr>
            <p:ph idx="1" type="subTitle"/>
          </p:nvPr>
        </p:nvSpPr>
        <p:spPr>
          <a:xfrm>
            <a:off x="598100" y="1221456"/>
            <a:ext cx="8222100" cy="339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Full containerized architecture with one Dockerfile per service and a single docker-compose.yml.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One-command deployment through docker compose up --build, satisfying the reproducibility requirement.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Service orchestration includes startup dependencies and health checks for Kafka, PostgreSQL, and Redis.​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Internal Docker network connects simulator, ingestion, broker, rule engine, API Gateway, frontend, Redis, and PostgreSQL.​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Persistent storage is provided through a Docker volume for PostgreSQL rule data.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Public entry points are exposed on ports 8080 (simulator), 8000 (API Gateway), and 3000 (dashboard).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ctrTitle"/>
          </p:nvPr>
        </p:nvSpPr>
        <p:spPr>
          <a:xfrm>
            <a:off x="598100" y="1420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127" name="Google Shape;127;p20"/>
          <p:cNvSpPr txBox="1"/>
          <p:nvPr>
            <p:ph idx="1" type="subTitle"/>
          </p:nvPr>
        </p:nvSpPr>
        <p:spPr>
          <a:xfrm>
            <a:off x="460950" y="980839"/>
            <a:ext cx="8222100" cy="39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TECHNOLOGY</a:t>
            </a:r>
            <a:endParaRPr b="1" sz="12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8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Python + FastAPI &amp; U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vicorn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+ Kafka + Redis + PostgreSQL + Docker  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FEATURES</a:t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Persistent rules stored in PostgreSQL (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automation_rules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Actuator state stored in PostgreSQL (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actuators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Cache/state and pub-sub managed with Redis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Main APIs: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 /api/state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GET/POST/PATCH/DELETE /api/rules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GET/PATCH /api/actuators/…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Courier New"/>
                <a:ea typeface="Courier New"/>
                <a:cs typeface="Courier New"/>
                <a:sym typeface="Courier New"/>
              </a:rPr>
              <a:t>WS /ws/telemetry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4300"/>
              <a:t>Lo-fi Figma Mockups</a:t>
            </a:r>
            <a:endParaRPr b="1" sz="4300"/>
          </a:p>
        </p:txBody>
      </p:sp>
      <p:pic>
        <p:nvPicPr>
          <p:cNvPr id="133" name="Google Shape;133;p21" title="Log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9267" y="0"/>
            <a:ext cx="3107359" cy="18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1" title="Water_systems.png"/>
          <p:cNvPicPr preferRelativeResize="0"/>
          <p:nvPr/>
        </p:nvPicPr>
        <p:blipFill rotWithShape="1">
          <a:blip r:embed="rId4">
            <a:alphaModFix/>
          </a:blip>
          <a:srcRect b="7736" l="4029" r="3992" t="6596"/>
          <a:stretch/>
        </p:blipFill>
        <p:spPr>
          <a:xfrm>
            <a:off x="5900175" y="0"/>
            <a:ext cx="3185300" cy="1731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 title="Indoor_Enviroments_sensor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-1"/>
            <a:ext cx="3107348" cy="181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1" title="Energy_and_global_syste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0" y="2614025"/>
            <a:ext cx="4335043" cy="2529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1" title="Actuators systems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97461" y="2571750"/>
            <a:ext cx="4675915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143" name="Google Shape;143;p22"/>
          <p:cNvSpPr txBox="1"/>
          <p:nvPr>
            <p:ph idx="1" type="subTitle"/>
          </p:nvPr>
        </p:nvSpPr>
        <p:spPr>
          <a:xfrm>
            <a:off x="598100" y="1160515"/>
            <a:ext cx="8222100" cy="3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TECHNOLOGY</a:t>
            </a:r>
            <a:endParaRPr b="1" sz="12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400"/>
              <a:buFont typeface="Arial"/>
              <a:buChar char="●"/>
            </a:pPr>
            <a:r>
              <a:rPr lang="it" sz="14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Vue.js</a:t>
            </a:r>
            <a:r>
              <a:rPr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+ Vite + Vuetify + Pinia + </a:t>
            </a:r>
            <a:r>
              <a:rPr lang="it" sz="1400" u="sng">
                <a:solidFill>
                  <a:schemeClr val="hlink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  <a:hlinkClick r:id="rId4"/>
              </a:rPr>
              <a:t>Chart.js</a:t>
            </a:r>
            <a:r>
              <a:rPr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+ FIGMA</a:t>
            </a:r>
            <a:endParaRPr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E8EAED"/>
              </a:buClr>
              <a:buSzPts val="1400"/>
              <a:buFont typeface="Arial"/>
              <a:buChar char="●"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Routing</a:t>
            </a:r>
            <a:r>
              <a:rPr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: vue-router</a:t>
            </a:r>
            <a:endParaRPr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E8EAED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FEATURES</a:t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Dashboard with real-time sensor and stream cards (Polling and 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Websocket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Line/area/bar charts 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b="1"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Actuators page</a:t>
            </a: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AUTO/MANUAL mode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ON/OFF switches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○"/>
            </a:pPr>
            <a:r>
              <a:rPr lang="it" sz="1400">
                <a:solidFill>
                  <a:srgbClr val="FFFFFF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Rules table with create/edit/delete operations</a:t>
            </a:r>
            <a:endParaRPr sz="1400">
              <a:solidFill>
                <a:srgbClr val="FFFFFF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ctrTitle"/>
          </p:nvPr>
        </p:nvSpPr>
        <p:spPr>
          <a:xfrm>
            <a:off x="598100" y="3217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Arial"/>
                <a:ea typeface="Arial"/>
                <a:cs typeface="Arial"/>
                <a:sym typeface="Arial"/>
              </a:rPr>
              <a:t>Project summary</a:t>
            </a:r>
            <a:endParaRPr/>
          </a:p>
        </p:txBody>
      </p:sp>
      <p:sp>
        <p:nvSpPr>
          <p:cNvPr id="149" name="Google Shape;149;p23"/>
          <p:cNvSpPr txBox="1"/>
          <p:nvPr>
            <p:ph idx="1" type="subTitle"/>
          </p:nvPr>
        </p:nvSpPr>
        <p:spPr>
          <a:xfrm>
            <a:off x="598100" y="1245115"/>
            <a:ext cx="8222100" cy="36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625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End-to-end architecture implemented and running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Real-time sensor monitoring and telemetry visualization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Rule-based automation engine integrated with actuator control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Manual/automatic actuator management from the dashboard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Containerized deployment with Docker Compose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Char char="●"/>
            </a:pPr>
            <a:r>
              <a:rPr lang="it" sz="1600">
                <a:solidFill>
                  <a:srgbClr val="FFFFFF"/>
                </a:solidFill>
                <a:highlight>
                  <a:srgbClr val="181818"/>
                </a:highlight>
                <a:latin typeface="Arial"/>
                <a:ea typeface="Arial"/>
                <a:cs typeface="Arial"/>
                <a:sym typeface="Arial"/>
              </a:rPr>
              <a:t>Deliverables completed: source code, docs, architecture, user stories, mockups</a:t>
            </a:r>
            <a:endParaRPr sz="1600">
              <a:solidFill>
                <a:srgbClr val="FFFFFF"/>
              </a:solidFill>
              <a:highlight>
                <a:srgbClr val="181818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38100" rtl="0" algn="l">
              <a:lnSpc>
                <a:spcPct val="128571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E8EAED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0B0E14"/>
      </a:dk1>
      <a:lt1>
        <a:srgbClr val="FFFFFF"/>
      </a:lt1>
      <a:dk2>
        <a:srgbClr val="A0AAB5"/>
      </a:dk2>
      <a:lt2>
        <a:srgbClr val="999999"/>
      </a:lt2>
      <a:accent1>
        <a:srgbClr val="00E5FF"/>
      </a:accent1>
      <a:accent2>
        <a:srgbClr val="FF7D00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00E5F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